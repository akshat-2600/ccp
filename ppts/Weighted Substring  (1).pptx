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A0t+ZF6oOnALayDnfPkIqGXON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987823-AB1D-46E3-B56C-B8D10DAA0862}">
  <a:tblStyle styleId="{CF987823-AB1D-46E3-B56C-B8D10DAA08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285F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285F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755719" y="5078556"/>
            <a:ext cx="60480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17488" y="812800"/>
            <a:ext cx="71247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94aed2ad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094aed2a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94aed2ade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094aed2ad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15fc252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2815fc252b8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94b623ef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094b623ef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94b623e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094b623e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94b623ef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094b623e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94b623ef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094b623ef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94b623e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094b623e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94b623ef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094b623ef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94b623ef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094b623ef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94b623ef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094b623ef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94b623ef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094b623ef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94b623e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094b623e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94b623ef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094b623ef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94b623ef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094b623ef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94b623ef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094b623ef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94b623ef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094b623ef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:notes"/>
          <p:cNvSpPr/>
          <p:nvPr>
            <p:ph idx="2" type="sldImg"/>
          </p:nvPr>
        </p:nvSpPr>
        <p:spPr>
          <a:xfrm>
            <a:off x="-2305050" y="2032000"/>
            <a:ext cx="97521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42:notes"/>
          <p:cNvSpPr txBox="1"/>
          <p:nvPr>
            <p:ph idx="1" type="body"/>
          </p:nvPr>
        </p:nvSpPr>
        <p:spPr>
          <a:xfrm>
            <a:off x="514350" y="7823360"/>
            <a:ext cx="4114500" cy="6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94b623ef2_0_2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094b623ef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s.gle/L9yNisQKr1XjdLHH9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99" y="962974"/>
            <a:ext cx="2649990" cy="32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1297" y="2070612"/>
            <a:ext cx="3595704" cy="350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094aed2ade_0_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1" name="Google Shape;61;g3094aed2ade_0_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2" name="Google Shape;62;g3094aed2ad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094aed2ad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3" y="600290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094aed2ad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3" y="3386140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94aed2ade_0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0" name="Google Shape;70;g3094aed2ade_0_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1" name="Google Shape;71;g3094aed2ade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094aed2ade_0_54"/>
          <p:cNvSpPr txBox="1"/>
          <p:nvPr/>
        </p:nvSpPr>
        <p:spPr>
          <a:xfrm>
            <a:off x="178420" y="1568044"/>
            <a:ext cx="469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15fc252b8_1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https://forms.gle/L9yNisQKr1XjdLHH9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2815fc252b8_1_0"/>
          <p:cNvSpPr txBox="1"/>
          <p:nvPr/>
        </p:nvSpPr>
        <p:spPr>
          <a:xfrm>
            <a:off x="590650" y="5292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TEST TIME ON QUICK, SELECTION SORT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815fc252b8_1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2815fc252b8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2400" y="2275025"/>
            <a:ext cx="2727126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094b623ef2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094b623ef2_0_95"/>
          <p:cNvSpPr/>
          <p:nvPr/>
        </p:nvSpPr>
        <p:spPr>
          <a:xfrm>
            <a:off x="577637" y="78765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094b623ef2_0_95"/>
          <p:cNvSpPr/>
          <p:nvPr/>
        </p:nvSpPr>
        <p:spPr>
          <a:xfrm>
            <a:off x="578787" y="1359426"/>
            <a:ext cx="79683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Given a string '</a:t>
            </a: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' consisting of small English letters and a string '</a:t>
            </a: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' consisting of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of all characters of English alphabet.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g3094b623ef2_0_95"/>
          <p:cNvSpPr/>
          <p:nvPr/>
        </p:nvSpPr>
        <p:spPr>
          <a:xfrm>
            <a:off x="579937" y="2818076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Each alphabet will have a weight </a:t>
            </a:r>
            <a:r>
              <a:rPr b="1" i="1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where </a:t>
            </a:r>
            <a:r>
              <a:rPr b="1" i="1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 &lt;= w &lt;= 9</a:t>
            </a:r>
            <a:endParaRPr b="1" i="1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g3094b623ef2_0_95"/>
          <p:cNvSpPr/>
          <p:nvPr/>
        </p:nvSpPr>
        <p:spPr>
          <a:xfrm>
            <a:off x="581087" y="3444851"/>
            <a:ext cx="7968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task is to find the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numbers of unique substring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with sum of </a:t>
            </a:r>
            <a:r>
              <a:rPr b="1" i="1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atmost </a:t>
            </a:r>
            <a:r>
              <a:rPr b="1" i="1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endParaRPr b="1" i="1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094b623ef2_0_18"/>
          <p:cNvPicPr preferRelativeResize="0"/>
          <p:nvPr/>
        </p:nvPicPr>
        <p:blipFill rotWithShape="1">
          <a:blip r:embed="rId3">
            <a:alphaModFix/>
          </a:blip>
          <a:srcRect b="0" l="0" r="0" t="88852"/>
          <a:stretch/>
        </p:blipFill>
        <p:spPr>
          <a:xfrm>
            <a:off x="0" y="4570151"/>
            <a:ext cx="9144000" cy="5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094b623ef2_0_18"/>
          <p:cNvSpPr/>
          <p:nvPr/>
        </p:nvSpPr>
        <p:spPr>
          <a:xfrm>
            <a:off x="579937" y="17112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Weight of a string ‘</a:t>
            </a:r>
            <a:r>
              <a:rPr b="1" i="1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’ can be defined as ;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094b623ef2_0_18"/>
          <p:cNvSpPr/>
          <p:nvPr/>
        </p:nvSpPr>
        <p:spPr>
          <a:xfrm>
            <a:off x="581087" y="2867351"/>
            <a:ext cx="157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S[0]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8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094b623ef2_0_18"/>
          <p:cNvSpPr/>
          <p:nvPr/>
        </p:nvSpPr>
        <p:spPr>
          <a:xfrm>
            <a:off x="2149737" y="2868501"/>
            <a:ext cx="185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S[1]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094b623ef2_0_18"/>
          <p:cNvSpPr/>
          <p:nvPr/>
        </p:nvSpPr>
        <p:spPr>
          <a:xfrm>
            <a:off x="3959012" y="2869651"/>
            <a:ext cx="185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S[2]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094b623ef2_0_18"/>
          <p:cNvSpPr/>
          <p:nvPr/>
        </p:nvSpPr>
        <p:spPr>
          <a:xfrm>
            <a:off x="6152136" y="2869651"/>
            <a:ext cx="263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S[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- 1]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094b623ef2_0_18"/>
          <p:cNvSpPr/>
          <p:nvPr/>
        </p:nvSpPr>
        <p:spPr>
          <a:xfrm>
            <a:off x="5710987" y="2868501"/>
            <a:ext cx="44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i="1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094b623ef2_0_18"/>
          <p:cNvSpPr/>
          <p:nvPr/>
        </p:nvSpPr>
        <p:spPr>
          <a:xfrm>
            <a:off x="574212" y="35411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Where;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Len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length of string</a:t>
            </a:r>
            <a:endParaRPr b="1" i="1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g3094b623ef2_0_18"/>
          <p:cNvPicPr preferRelativeResize="0"/>
          <p:nvPr/>
        </p:nvPicPr>
        <p:blipFill rotWithShape="1">
          <a:blip r:embed="rId3">
            <a:alphaModFix/>
          </a:blip>
          <a:srcRect b="81971" l="0" r="0" t="0"/>
          <a:stretch/>
        </p:blipFill>
        <p:spPr>
          <a:xfrm>
            <a:off x="0" y="0"/>
            <a:ext cx="9144000" cy="92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094b623ef2_0_18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094b623ef2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094b623ef2_0_22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3094b623ef2_0_22"/>
          <p:cNvSpPr/>
          <p:nvPr/>
        </p:nvSpPr>
        <p:spPr>
          <a:xfrm>
            <a:off x="545561" y="94802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Sample IO #1 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094b623ef2_0_22"/>
          <p:cNvSpPr/>
          <p:nvPr/>
        </p:nvSpPr>
        <p:spPr>
          <a:xfrm>
            <a:off x="539836" y="132730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 = “abcde”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094b623ef2_0_22"/>
          <p:cNvSpPr/>
          <p:nvPr/>
        </p:nvSpPr>
        <p:spPr>
          <a:xfrm>
            <a:off x="534111" y="1706575"/>
            <a:ext cx="3737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 = “12345678912345678912345678”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094b623ef2_0_22"/>
          <p:cNvSpPr/>
          <p:nvPr/>
        </p:nvSpPr>
        <p:spPr>
          <a:xfrm>
            <a:off x="529536" y="288450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 = 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g3094b623ef2_0_22"/>
          <p:cNvSpPr/>
          <p:nvPr/>
        </p:nvSpPr>
        <p:spPr>
          <a:xfrm>
            <a:off x="528386" y="249835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 = 5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094b623ef2_0_22"/>
          <p:cNvSpPr/>
          <p:nvPr/>
        </p:nvSpPr>
        <p:spPr>
          <a:xfrm>
            <a:off x="4816086" y="95605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Sample IO #2 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094b623ef2_0_22"/>
          <p:cNvSpPr/>
          <p:nvPr/>
        </p:nvSpPr>
        <p:spPr>
          <a:xfrm>
            <a:off x="4810361" y="133532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 = “acbacbacaa”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094b623ef2_0_22"/>
          <p:cNvSpPr/>
          <p:nvPr/>
        </p:nvSpPr>
        <p:spPr>
          <a:xfrm>
            <a:off x="4804636" y="1714600"/>
            <a:ext cx="3737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 = “12300045600078900012345000”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094b623ef2_0_22"/>
          <p:cNvSpPr/>
          <p:nvPr/>
        </p:nvSpPr>
        <p:spPr>
          <a:xfrm>
            <a:off x="4798911" y="250637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 = 2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094b623ef2_0_22"/>
          <p:cNvSpPr/>
          <p:nvPr/>
        </p:nvSpPr>
        <p:spPr>
          <a:xfrm>
            <a:off x="4800061" y="289252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 = 3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g3094b623ef2_0_22"/>
          <p:cNvSpPr/>
          <p:nvPr/>
        </p:nvSpPr>
        <p:spPr>
          <a:xfrm>
            <a:off x="4801211" y="325805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Explanation :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g3094b623ef2_0_22"/>
          <p:cNvSpPr/>
          <p:nvPr/>
        </p:nvSpPr>
        <p:spPr>
          <a:xfrm>
            <a:off x="4801211" y="369117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“a”, “c”, “aa” 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g3094b623ef2_0_22"/>
          <p:cNvSpPr/>
          <p:nvPr/>
        </p:nvSpPr>
        <p:spPr>
          <a:xfrm>
            <a:off x="585662" y="4329527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The idea is to use HashSet to solve it!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094b623ef2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094b623ef2_0_26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g3094b623ef2_0_26"/>
          <p:cNvSpPr/>
          <p:nvPr/>
        </p:nvSpPr>
        <p:spPr>
          <a:xfrm>
            <a:off x="577637" y="6364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Algorithm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g3094b623ef2_0_26"/>
          <p:cNvSpPr/>
          <p:nvPr/>
        </p:nvSpPr>
        <p:spPr>
          <a:xfrm>
            <a:off x="579937" y="1305576"/>
            <a:ext cx="79683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Iterate over all the substrings using the nested loops and maintain the sum of the weight of all the characters encountered so far.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g3094b623ef2_0_26"/>
          <p:cNvSpPr/>
          <p:nvPr/>
        </p:nvSpPr>
        <p:spPr>
          <a:xfrm>
            <a:off x="574212" y="2681726"/>
            <a:ext cx="7968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2"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the sum of characters is not greater than K, then insert it in a hashmap.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g3094b623ef2_0_26"/>
          <p:cNvSpPr/>
          <p:nvPr/>
        </p:nvSpPr>
        <p:spPr>
          <a:xfrm>
            <a:off x="568487" y="3672876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Finally, output the size of the hashmap.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094b623ef2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094b623ef2_0_30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9" name="Google Shape;139;g3094b623ef2_0_30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{CF987823-AB1D-46E3-B56C-B8D10DAA0862}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EthCode {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static int distinctSubString(String P, String Q, int K, int N) {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Hashmap to store all subStrings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HashSet &lt; String &gt; S = new HashSet &lt; String &gt; ();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Iterate over all subStrings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i = 0; i &lt; N; ++i) {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sum of all characters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encountered so far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sum = 0;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subString till the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current position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s = "";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j = i; j &lt; N; ++j) {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Get the position of the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character in String Q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pos = P.charAt(j) - 'a';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weight to current sum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 += Q.charAt(pos) - '0';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current character to subString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 += P.charAt(j);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If sum of characters is &lt;=K then insert in into the set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if (sum &lt;= K)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S.add(s);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else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break;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required value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return S.size();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094b623ef2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094b623ef2_0_34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6" name="Google Shape;146;g3094b623ef2_0_34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{CF987823-AB1D-46E3-B56C-B8D10DAA0862}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main(String[] args)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//Sample Input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P = "abcde";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Q = "12345678912345678912345678";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K = 5;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N = P.length();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System.out.print(distinctSubString(P, Q, K, N));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094b623ef2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094b623ef2_0_38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3094b623ef2_0_38"/>
          <p:cNvSpPr/>
          <p:nvPr/>
        </p:nvSpPr>
        <p:spPr>
          <a:xfrm>
            <a:off x="587862" y="9047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 Complexity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3094b623ef2_0_38"/>
          <p:cNvSpPr/>
          <p:nvPr/>
        </p:nvSpPr>
        <p:spPr>
          <a:xfrm>
            <a:off x="545561" y="156677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QuadraticTime Complexity: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094b623ef2_0_38"/>
          <p:cNvSpPr/>
          <p:nvPr/>
        </p:nvSpPr>
        <p:spPr>
          <a:xfrm>
            <a:off x="4382961" y="157480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O(n^n)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094b623ef2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094b623ef2_0_42"/>
          <p:cNvSpPr/>
          <p:nvPr/>
        </p:nvSpPr>
        <p:spPr>
          <a:xfrm>
            <a:off x="579937" y="734951"/>
            <a:ext cx="602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the variation of the previous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094b623ef2_0_42"/>
          <p:cNvSpPr/>
          <p:nvPr/>
        </p:nvSpPr>
        <p:spPr>
          <a:xfrm>
            <a:off x="574200" y="1162346"/>
            <a:ext cx="60201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Given string ‘S’ which contains only lowercase characters and an integer ‘K’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Have to find number of substrings having weight equal to ‘K’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 #1 : S = “abcdef”, K=5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= 3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 #2 : S = “abcdef”, K=4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= 2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3" name="Google Shape;163;g3094b623ef2_0_42"/>
          <p:cNvPicPr preferRelativeResize="0"/>
          <p:nvPr/>
        </p:nvPicPr>
        <p:blipFill rotWithShape="1">
          <a:blip r:embed="rId4">
            <a:alphaModFix/>
          </a:blip>
          <a:srcRect b="0" l="0" r="39117" t="0"/>
          <a:stretch/>
        </p:blipFill>
        <p:spPr>
          <a:xfrm>
            <a:off x="6895800" y="547450"/>
            <a:ext cx="1368750" cy="446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094b623ef2_0_42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094b623ef2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094b623ef2_0_46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094b623ef2_0_46"/>
          <p:cNvSpPr/>
          <p:nvPr/>
        </p:nvSpPr>
        <p:spPr>
          <a:xfrm>
            <a:off x="545561" y="1566775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QuadraticTime Complexity: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094b623ef2_0_46"/>
          <p:cNvSpPr/>
          <p:nvPr/>
        </p:nvSpPr>
        <p:spPr>
          <a:xfrm>
            <a:off x="4382961" y="1574800"/>
            <a:ext cx="37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O(n^n)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094b623ef2_0_46"/>
          <p:cNvSpPr/>
          <p:nvPr/>
        </p:nvSpPr>
        <p:spPr>
          <a:xfrm>
            <a:off x="577637" y="7888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094b623ef2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094b623ef2_0_50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g3094b623ef2_0_50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{CF987823-AB1D-46E3-B56C-B8D10DAA0862}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EthCode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static int distinctSubString(String str, int K, int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Hashmap to store all subStrings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HashSet &lt; String &gt; S = new HashSet &lt; String &gt; 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Iterate over all subStrings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i = 0; i &lt; N; ++i)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sum of all characters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encountered so far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sum = 0;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subString till the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current position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s = "";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j = i; j &lt; N; ++j)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 ch = str[j];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//Get the current weight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currWeight = ch - 'a'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pos = P.charAt(j) - 'a';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weight to current sum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 += currweight;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current character to subString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 += P.charAt(j);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If sum of characters is ==K then insert in into the set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if (sum == K)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S.add(s);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else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break;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required value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return S.size();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094b623ef2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094b623ef2_0_54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g3094b623ef2_0_54"/>
          <p:cNvGraphicFramePr/>
          <p:nvPr/>
        </p:nvGraphicFramePr>
        <p:xfrm>
          <a:off x="275104" y="6695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{CF987823-AB1D-46E3-B56C-B8D10DAA0862}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main(String[] args)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//Sample Input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str = "abcde";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K = 5;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//Length of the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N = P.length();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//Sample Output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System.out.print(distinctSubString(str, K, N));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094b623ef2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094b623ef2_0_58"/>
          <p:cNvSpPr/>
          <p:nvPr/>
        </p:nvSpPr>
        <p:spPr>
          <a:xfrm>
            <a:off x="587862" y="3599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HASHSET (FOR WEIGHTED SUBSTRING)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094b623ef2_0_58"/>
          <p:cNvSpPr txBox="1"/>
          <p:nvPr/>
        </p:nvSpPr>
        <p:spPr>
          <a:xfrm>
            <a:off x="582919" y="895350"/>
            <a:ext cx="68313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HashSet class is used to create a collection that uses a hash table for storage.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Set contains unique elements only.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underlying data structure for HashSet is Hashtable.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it implements the Set Interface, duplicate values are not allowed.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Objects that you insert in HashSet are not guaranteed to be inserted in the same order as they are inserted based on their hash code.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094b623ef2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094b623ef2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50" y="354425"/>
            <a:ext cx="5676900" cy="46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094b623ef2_0_62"/>
          <p:cNvSpPr txBox="1"/>
          <p:nvPr/>
        </p:nvSpPr>
        <p:spPr>
          <a:xfrm>
            <a:off x="6502400" y="1935575"/>
            <a:ext cx="154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 B, C]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[A,C]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094b623ef2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094b623ef2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6050" y="541025"/>
            <a:ext cx="2838450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/>
          <p:nvPr/>
        </p:nvSpPr>
        <p:spPr>
          <a:xfrm>
            <a:off x="2745000" y="83880"/>
            <a:ext cx="4026300" cy="440400"/>
          </a:xfrm>
          <a:prstGeom prst="roundRect">
            <a:avLst>
              <a:gd fmla="val 16667" name="adj"/>
            </a:avLst>
          </a:prstGeom>
          <a:solidFill>
            <a:srgbClr val="04C3E2">
              <a:alpha val="2431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HashSet (For Weighted Substring)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1-removebg-preview" id="213" name="Google Shape;2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00" y="4587840"/>
            <a:ext cx="2440080" cy="63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2"/>
          <p:cNvSpPr/>
          <p:nvPr/>
        </p:nvSpPr>
        <p:spPr>
          <a:xfrm>
            <a:off x="478800" y="2884320"/>
            <a:ext cx="75900" cy="75900"/>
          </a:xfrm>
          <a:prstGeom prst="ellipse">
            <a:avLst/>
          </a:prstGeom>
          <a:solidFill>
            <a:srgbClr val="E5F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2"/>
          <p:cNvSpPr txBox="1"/>
          <p:nvPr/>
        </p:nvSpPr>
        <p:spPr>
          <a:xfrm>
            <a:off x="582930" y="895350"/>
            <a:ext cx="2983200" cy="3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HashSet class is used to create a collection that uses a hash table for storage.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contains unique elements only.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underlying data structure for HashSet is Hashtable.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it implements the Set Interface, duplicate values are not allowed.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that you insert in HashSet are not guaranteed to be inserted in the same order as they are inserted based on their hash code.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370" y="1254760"/>
            <a:ext cx="1184910" cy="304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2"/>
          <p:cNvSpPr txBox="1"/>
          <p:nvPr/>
        </p:nvSpPr>
        <p:spPr>
          <a:xfrm>
            <a:off x="3903980" y="977265"/>
            <a:ext cx="2983200" cy="3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 B, C]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[A,C]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800" y="1268828"/>
            <a:ext cx="2367915" cy="23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94b623ef2_0_22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24" name="Google Shape;224;g3094b623ef2_0_22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5" name="Google Shape;225;g3094b623ef2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094b623ef2_0_223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27" name="Google Shape;227;g3094b623ef2_0_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094b623ef2_0_2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094b623ef2_0_223"/>
          <p:cNvSpPr txBox="1"/>
          <p:nvPr/>
        </p:nvSpPr>
        <p:spPr>
          <a:xfrm>
            <a:off x="1980750" y="4590800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30" name="Google Shape;230;g3094b623ef2_0_223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3094b623ef2_0_223"/>
          <p:cNvSpPr txBox="1"/>
          <p:nvPr/>
        </p:nvSpPr>
        <p:spPr>
          <a:xfrm>
            <a:off x="3519050" y="4590800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32" name="Google Shape;232;g3094b623ef2_0_2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9288" y="255999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094b623ef2_0_223"/>
          <p:cNvSpPr txBox="1"/>
          <p:nvPr/>
        </p:nvSpPr>
        <p:spPr>
          <a:xfrm>
            <a:off x="5457275" y="4590800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34" name="Google Shape;234;g3094b623ef2_0_223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RAMASAMY</dc:creator>
</cp:coreProperties>
</file>